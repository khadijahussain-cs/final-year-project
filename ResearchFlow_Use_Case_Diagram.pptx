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otham Bold" charset="1" panose="00000000000000000000"/>
      <p:regular r:id="rId9"/>
    </p:embeddedFont>
    <p:embeddedFont>
      <p:font typeface="Gotham" charset="1" panose="00000000000000000000"/>
      <p:regular r:id="rId10"/>
    </p:embeddedFont>
    <p:embeddedFont>
      <p:font typeface="Gotham Italics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8037" y="1670165"/>
            <a:ext cx="13501573" cy="7888173"/>
          </a:xfrm>
          <a:custGeom>
            <a:avLst/>
            <a:gdLst/>
            <a:ahLst/>
            <a:cxnLst/>
            <a:rect r="r" b="b" t="t" l="l"/>
            <a:pathLst>
              <a:path h="7888173" w="13501573">
                <a:moveTo>
                  <a:pt x="0" y="0"/>
                </a:moveTo>
                <a:lnTo>
                  <a:pt x="13501574" y="0"/>
                </a:lnTo>
                <a:lnTo>
                  <a:pt x="13501574" y="7888173"/>
                </a:lnTo>
                <a:lnTo>
                  <a:pt x="0" y="7888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51" r="0" b="-145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8368" y="560182"/>
            <a:ext cx="15380208" cy="72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136472"/>
                </a:solidFill>
                <a:latin typeface="Gotham Bold"/>
                <a:ea typeface="Gotham Bold"/>
                <a:cs typeface="Gotham Bold"/>
                <a:sym typeface="Gotham Bold"/>
              </a:rPr>
              <a:t>ResearchFlow System — Use Case Diagram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5920" y="9488978"/>
            <a:ext cx="14465808" cy="29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819">
                <a:solidFill>
                  <a:srgbClr val="222222"/>
                </a:solidFill>
                <a:latin typeface="Gotham"/>
                <a:ea typeface="Gotham"/>
                <a:cs typeface="Gotham"/>
                <a:sym typeface="Gotham"/>
              </a:rPr>
              <a:t>The use case diagram illustrates how students, administrators, and external services interact with the ResearchFlow System.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17434852" cy="8362970"/>
          </a:xfrm>
          <a:custGeom>
            <a:avLst/>
            <a:gdLst/>
            <a:ahLst/>
            <a:cxnLst/>
            <a:rect r="r" b="b" t="t" l="l"/>
            <a:pathLst>
              <a:path h="8362970" w="17434852">
                <a:moveTo>
                  <a:pt x="0" y="0"/>
                </a:moveTo>
                <a:lnTo>
                  <a:pt x="17434852" y="0"/>
                </a:lnTo>
                <a:lnTo>
                  <a:pt x="17434852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656" y="649874"/>
            <a:ext cx="8997696" cy="74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1"/>
              </a:lnSpc>
            </a:pPr>
            <a:r>
              <a:rPr lang="en-US" sz="5651" b="true">
                <a:solidFill>
                  <a:srgbClr val="004754"/>
                </a:solidFill>
                <a:latin typeface="Gotham Bold"/>
                <a:ea typeface="Gotham Bold"/>
                <a:cs typeface="Gotham Bold"/>
                <a:sym typeface="Gotham Bold"/>
              </a:rPr>
              <a:t>Actors &amp; Main Use Cases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058782"/>
            <a:ext cx="1225296" cy="28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2197" b="true">
                <a:solidFill>
                  <a:srgbClr val="004754"/>
                </a:solidFill>
                <a:latin typeface="Gotham Bold"/>
                <a:ea typeface="Gotham Bold"/>
                <a:cs typeface="Gotham Bold"/>
                <a:sym typeface="Gotham Bold"/>
              </a:rPr>
              <a:t>ACTORS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350377"/>
            <a:ext cx="7853340" cy="229572"/>
          </a:xfrm>
          <a:custGeom>
            <a:avLst/>
            <a:gdLst/>
            <a:ahLst/>
            <a:cxnLst/>
            <a:rect r="r" b="b" t="t" l="l"/>
            <a:pathLst>
              <a:path h="229572" w="7853340">
                <a:moveTo>
                  <a:pt x="0" y="0"/>
                </a:moveTo>
                <a:lnTo>
                  <a:pt x="7853340" y="0"/>
                </a:lnTo>
                <a:lnTo>
                  <a:pt x="7853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2820630"/>
            <a:ext cx="1005840" cy="26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940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3248366"/>
            <a:ext cx="4846320" cy="150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1781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Registers and authenticates in the system.</a:t>
            </a:r>
          </a:p>
          <a:p>
            <a:pPr algn="l">
              <a:lnSpc>
                <a:spcPts val="3028"/>
              </a:lnSpc>
            </a:pPr>
            <a:r>
              <a:rPr lang="en-US" sz="1781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Generates research templates.</a:t>
            </a:r>
          </a:p>
          <a:p>
            <a:pPr algn="l">
              <a:lnSpc>
                <a:spcPts val="3028"/>
              </a:lnSpc>
            </a:pPr>
            <a:r>
              <a:rPr lang="en-US" sz="1781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Submits drafts for critique.</a:t>
            </a:r>
          </a:p>
          <a:p>
            <a:pPr algn="l">
              <a:lnSpc>
                <a:spcPts val="3028"/>
              </a:lnSpc>
            </a:pPr>
            <a:r>
              <a:rPr lang="en-US" sz="1781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Views and manages history.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460593"/>
            <a:ext cx="804672" cy="2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59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Admin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853173"/>
            <a:ext cx="3511296" cy="111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Authenticates into the system.</a:t>
            </a:r>
          </a:p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Manages the research corpus.</a:t>
            </a:r>
          </a:p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Views corpus statistics.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651724"/>
            <a:ext cx="2011680" cy="2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59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External Entities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044304"/>
            <a:ext cx="6931152" cy="111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LLM Provider — supports RAG-based generation.</a:t>
            </a:r>
          </a:p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Corpus Data Source — provides corpus data for processing.</a:t>
            </a:r>
          </a:p>
          <a:p>
            <a:pPr algn="l">
              <a:lnSpc>
                <a:spcPts val="3092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Data Store — stores and provides history data.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925244" y="1924030"/>
            <a:ext cx="218756" cy="7510275"/>
          </a:xfrm>
          <a:custGeom>
            <a:avLst/>
            <a:gdLst/>
            <a:ahLst/>
            <a:cxnLst/>
            <a:rect r="r" b="b" t="t" l="l"/>
            <a:pathLst>
              <a:path h="7510275" w="218756">
                <a:moveTo>
                  <a:pt x="0" y="0"/>
                </a:moveTo>
                <a:lnTo>
                  <a:pt x="218756" y="0"/>
                </a:lnTo>
                <a:lnTo>
                  <a:pt x="21875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01200" y="2058782"/>
            <a:ext cx="3877056" cy="28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sz="2197" b="true">
                <a:solidFill>
                  <a:srgbClr val="004754"/>
                </a:solidFill>
                <a:latin typeface="Gotham Bold"/>
                <a:ea typeface="Gotham Bold"/>
                <a:cs typeface="Gotham Bold"/>
                <a:sym typeface="Gotham Bold"/>
              </a:rPr>
              <a:t>MAIN SYSTEM FUNCTIONS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70574" y="2350377"/>
            <a:ext cx="7853340" cy="229572"/>
          </a:xfrm>
          <a:custGeom>
            <a:avLst/>
            <a:gdLst/>
            <a:ahLst/>
            <a:cxnLst/>
            <a:rect r="r" b="b" t="t" l="l"/>
            <a:pathLst>
              <a:path h="229572" w="7853340">
                <a:moveTo>
                  <a:pt x="0" y="0"/>
                </a:moveTo>
                <a:lnTo>
                  <a:pt x="7853340" y="0"/>
                </a:lnTo>
                <a:lnTo>
                  <a:pt x="7853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01200" y="2821143"/>
            <a:ext cx="2340864" cy="26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Student Functions: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3231674"/>
            <a:ext cx="2779776" cy="220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Register</a:t>
            </a:r>
          </a:p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Login / Authenticate</a:t>
            </a:r>
          </a:p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Generate Template</a:t>
            </a:r>
          </a:p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Submit Draft for Critique</a:t>
            </a:r>
          </a:p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View History</a:t>
            </a:r>
          </a:p>
          <a:p>
            <a:pPr algn="l">
              <a:lnSpc>
                <a:spcPts val="2964"/>
              </a:lnSpc>
            </a:pPr>
            <a:r>
              <a:rPr lang="en-US" sz="1744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Delete History Entry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0" y="6020400"/>
            <a:ext cx="2048256" cy="26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Administrations: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1200" y="6361154"/>
            <a:ext cx="2633472" cy="66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Manage Corpus</a:t>
            </a:r>
          </a:p>
          <a:p>
            <a:pPr algn="l">
              <a:lnSpc>
                <a:spcPts val="2729"/>
              </a:lnSpc>
            </a:pPr>
            <a:r>
              <a:rPr lang="en-US" sz="1819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View Corpus Statistics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7645746"/>
            <a:ext cx="2596896" cy="26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 b="true">
                <a:solidFill>
                  <a:srgbClr val="00706A"/>
                </a:solidFill>
                <a:latin typeface="Gotham Bold"/>
                <a:ea typeface="Gotham Bold"/>
                <a:cs typeface="Gotham Bold"/>
                <a:sym typeface="Gotham Bold"/>
              </a:rPr>
              <a:t>Supporting Services: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1200" y="8004545"/>
            <a:ext cx="2926080" cy="1188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1900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RAG Generation</a:t>
            </a:r>
          </a:p>
          <a:p>
            <a:pPr algn="l">
              <a:lnSpc>
                <a:spcPts val="3230"/>
              </a:lnSpc>
            </a:pPr>
            <a:r>
              <a:rPr lang="en-US" sz="1900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Parse &amp; Extract Patterns</a:t>
            </a:r>
          </a:p>
          <a:p>
            <a:pPr algn="l">
              <a:lnSpc>
                <a:spcPts val="3230"/>
              </a:lnSpc>
            </a:pPr>
            <a:r>
              <a:rPr lang="en-US" sz="1900">
                <a:solidFill>
                  <a:srgbClr val="002234"/>
                </a:solidFill>
                <a:latin typeface="Gotham"/>
                <a:ea typeface="Gotham"/>
                <a:cs typeface="Gotham"/>
                <a:sym typeface="Gotham"/>
              </a:rPr>
              <a:t>Access History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597531"/>
            <a:ext cx="16276320" cy="84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3"/>
              </a:lnSpc>
            </a:pPr>
            <a:r>
              <a:rPr lang="en-US" sz="5528" b="true">
                <a:solidFill>
                  <a:srgbClr val="13596A"/>
                </a:solidFill>
                <a:latin typeface="Gotham Bold"/>
                <a:ea typeface="Gotham Bold"/>
                <a:cs typeface="Gotham Bold"/>
                <a:sym typeface="Gotham Bold"/>
              </a:rPr>
              <a:t>Use Case Relationships &amp; System Interactions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96112" y="1883879"/>
            <a:ext cx="548640" cy="79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7"/>
              </a:lnSpc>
            </a:pPr>
            <a:r>
              <a:rPr lang="en-US" sz="3679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3120" y="1839371"/>
            <a:ext cx="3547872" cy="43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023" b="true">
                <a:solidFill>
                  <a:srgbClr val="13596A"/>
                </a:solidFill>
                <a:latin typeface="Gotham Bold"/>
                <a:ea typeface="Gotham Bold"/>
                <a:cs typeface="Gotham Bold"/>
                <a:sym typeface="Gotham Bold"/>
              </a:rPr>
              <a:t>INCLUDE RELATIONSHIPS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3120" y="2502444"/>
            <a:ext cx="2304288" cy="23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1722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Generate Template</a:t>
            </a:r>
          </a:p>
          <a:p>
            <a:pPr algn="l">
              <a:lnSpc>
                <a:spcPts val="3186"/>
              </a:lnSpc>
            </a:pPr>
            <a:r>
              <a:rPr lang="en-US" sz="1722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Submit Draft for Critique</a:t>
            </a:r>
          </a:p>
          <a:p>
            <a:pPr algn="l">
              <a:lnSpc>
                <a:spcPts val="3186"/>
              </a:lnSpc>
            </a:pPr>
            <a:r>
              <a:rPr lang="en-US" sz="1722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Manage Corpus</a:t>
            </a:r>
          </a:p>
          <a:p>
            <a:pPr algn="l">
              <a:lnSpc>
                <a:spcPts val="3186"/>
              </a:lnSpc>
            </a:pPr>
            <a:r>
              <a:rPr lang="en-US" sz="1722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View History</a:t>
            </a:r>
          </a:p>
          <a:p>
            <a:pPr algn="l">
              <a:lnSpc>
                <a:spcPts val="3186"/>
              </a:lnSpc>
            </a:pPr>
            <a:r>
              <a:rPr lang="en-US" sz="1722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Delete History Entry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8592" y="2636305"/>
            <a:ext cx="2926080" cy="210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RAG Generation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RAG Generation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Parse &amp; Extract Patterns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Access History Data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Access History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7360" y="2709755"/>
            <a:ext cx="3950208" cy="100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765" i="true">
                <a:solidFill>
                  <a:srgbClr val="242D40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&lt;&lt;include&gt;&gt; represents supporting functionality that is provoked as part of the corresponding use case.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5356674"/>
            <a:ext cx="16997340" cy="218640"/>
          </a:xfrm>
          <a:custGeom>
            <a:avLst/>
            <a:gdLst/>
            <a:ahLst/>
            <a:cxnLst/>
            <a:rect r="r" b="b" t="t" l="l"/>
            <a:pathLst>
              <a:path h="218640" w="16997340">
                <a:moveTo>
                  <a:pt x="0" y="0"/>
                </a:moveTo>
                <a:lnTo>
                  <a:pt x="16997340" y="0"/>
                </a:lnTo>
                <a:lnTo>
                  <a:pt x="16997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556438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6112" y="5726746"/>
            <a:ext cx="548640" cy="68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2"/>
              </a:lnSpc>
            </a:pPr>
            <a:r>
              <a:rPr lang="en-US" sz="318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03120" y="5604413"/>
            <a:ext cx="3236976" cy="43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023" b="true">
                <a:solidFill>
                  <a:srgbClr val="13596A"/>
                </a:solidFill>
                <a:latin typeface="Gotham Bold"/>
                <a:ea typeface="Gotham Bold"/>
                <a:cs typeface="Gotham Bold"/>
                <a:sym typeface="Gotham Bold"/>
              </a:rPr>
              <a:t>EXTEND RELATIONSHIP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3120" y="6248844"/>
            <a:ext cx="1517904" cy="38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1808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View History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08592" y="6235629"/>
            <a:ext cx="2432304" cy="39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Delete History Entry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360" y="5699792"/>
            <a:ext cx="4059936" cy="116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3" i="true">
                <a:solidFill>
                  <a:srgbClr val="242D40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&lt;&lt;extend&gt;&gt; represents the optional deletion action associated with viewing history.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7062064"/>
            <a:ext cx="16997340" cy="448211"/>
          </a:xfrm>
          <a:custGeom>
            <a:avLst/>
            <a:gdLst/>
            <a:ahLst/>
            <a:cxnLst/>
            <a:rect r="r" b="b" t="t" l="l"/>
            <a:pathLst>
              <a:path h="448211" w="16997340">
                <a:moveTo>
                  <a:pt x="0" y="0"/>
                </a:moveTo>
                <a:lnTo>
                  <a:pt x="16997340" y="0"/>
                </a:lnTo>
                <a:lnTo>
                  <a:pt x="1699734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5330" y="7499343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6112" y="7640128"/>
            <a:ext cx="548640" cy="68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2"/>
              </a:lnSpc>
            </a:pPr>
            <a:r>
              <a:rPr lang="en-US" sz="318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3120" y="7517795"/>
            <a:ext cx="3657600" cy="43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023" b="true">
                <a:solidFill>
                  <a:srgbClr val="13596A"/>
                </a:solidFill>
                <a:latin typeface="Gotham Bold"/>
                <a:ea typeface="Gotham Bold"/>
                <a:cs typeface="Gotham Bold"/>
                <a:sym typeface="Gotham Bold"/>
              </a:rPr>
              <a:t>EXTERNAL INTERACTIONS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03120" y="8273018"/>
            <a:ext cx="2926080" cy="125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RAG Generation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Parse &amp; Extract Patterns</a:t>
            </a:r>
          </a:p>
          <a:p>
            <a:pPr algn="l">
              <a:lnSpc>
                <a:spcPts val="3425"/>
              </a:lnSpc>
            </a:pPr>
            <a:r>
              <a:rPr lang="en-US" sz="1851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Access History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08592" y="8243775"/>
            <a:ext cx="2523744" cy="13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1937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LLM Provider</a:t>
            </a:r>
          </a:p>
          <a:p>
            <a:pPr algn="l">
              <a:lnSpc>
                <a:spcPts val="3584"/>
              </a:lnSpc>
            </a:pPr>
            <a:r>
              <a:rPr lang="en-US" sz="1937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Corpus Data Source</a:t>
            </a:r>
          </a:p>
          <a:p>
            <a:pPr algn="l">
              <a:lnSpc>
                <a:spcPts val="3584"/>
              </a:lnSpc>
            </a:pPr>
            <a:r>
              <a:rPr lang="en-US" sz="1937" b="true">
                <a:solidFill>
                  <a:srgbClr val="242D40"/>
                </a:solidFill>
                <a:latin typeface="Gotham Bold"/>
                <a:ea typeface="Gotham Bold"/>
                <a:cs typeface="Gotham Bold"/>
                <a:sym typeface="Gotham Bold"/>
              </a:rPr>
              <a:t>Data Store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67360" y="7873118"/>
            <a:ext cx="4352544" cy="146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94" i="true">
                <a:solidFill>
                  <a:srgbClr val="242D40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ResearchFlow uses external services and data sources to support AI generation, corpus processing, and history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DAHV1-9nwOk</dc:identifier>
  <dcterms:modified xsi:type="dcterms:W3CDTF">2011-08-01T06:04:30Z</dcterms:modified>
  <cp:revision>1</cp:revision>
  <dc:title>ResearchFlow Use Case Diagram</dc:title>
</cp:coreProperties>
</file>