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291840" cy="3291840"/>
          </a:xfrm>
          <a:prstGeom prst="ellipse">
            <a:avLst/>
          </a:prstGeom>
          <a:solidFill>
            <a:srgbClr val="3FA796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— PROPOSAL PRESENTATION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ResearchFlow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RAG-Powered Academic Writing Guide &amp; Critique Engine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3FA7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Science  •  Department of Computer Science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08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4708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general-purpose LLMs fail at academic structure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331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286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243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mode and Critique mode, explained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063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40156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finished product actually does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886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40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1788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in, and what's deliberately out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663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6177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9560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and tech stack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44068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4406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394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&amp; Timeline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73328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20-week development roadmap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0" y="1554480"/>
            <a:ext cx="3794760" cy="4572000"/>
          </a:xfrm>
          <a:prstGeom prst="roundRect">
            <a:avLst>
              <a:gd name="adj" fmla="val 2892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2450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/ AI (single domain)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046720" y="2907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31638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100–150 top-cited papers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046720" y="36210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38770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+ Critique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43342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046720" y="4590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weeks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5047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046720" y="5303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product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— FYP Proposal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AI Doesn't Write Like a Journal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LLMs like ChatGPT are trained on broad internet text — not specifically on how top-tier journals structure an argument. They cannot reliably guarantee the strict logical flow and rhetorical structure scholarly papers require.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split into two camps — neither solves structure: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54864" cy="777240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4107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/ Style Tools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2160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Grammarly, Trinka, Paperpal — fix sentence-level fluency, ignore whether a section is logically complete.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54864" cy="777240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3708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Tools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6817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Jenni AI, plain ChatGPT/Claude — produce fluent prose, but ungrounded in any verifiable quality signal.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1554480"/>
            <a:ext cx="4526280" cy="4480560"/>
          </a:xfrm>
          <a:prstGeom prst="roundRect">
            <a:avLst>
              <a:gd name="adj" fmla="val 2449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6092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INTRODUCTION FOLLOWS A PATTERN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60920" y="2468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609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2441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topic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territory of the research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60920" y="31821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6092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gap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34564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in existing work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60920" y="38953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3867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contribution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41696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paper fills that gap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5349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Swales’ CARS Model (Create A Research Space)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— FYP Proposal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Grounded Modes, One Knowledge Base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builds a curated knowledge base of verified, high-impact CS/AI papers and uses Retrieval-Augmented Generation to ground two connected product modes: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566160"/>
          </a:xfrm>
          <a:prstGeom prst="roundRect">
            <a:avLst>
              <a:gd name="adj" fmla="val 3590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14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17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Mode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1188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 field and section type and receives a structural template, writing guidelines, and real example excerpts — before they start writing.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5394960" cy="3566160"/>
          </a:xfrm>
          <a:prstGeom prst="roundRect">
            <a:avLst>
              <a:gd name="adj" fmla="val 3590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514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WRITING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017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 Mode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61188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 an existing draft section and receives specific, evidence-backed feedback on what's missing or weak, with supporting excerpts.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— FYP Proposal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4F8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37944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379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9164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Knowledge Base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00253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100–150 top-cited CS/AI papers with verified metadata.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54096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540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9077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Document Parsing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21868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GROBID splits every paper into clean, labelled sections.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4F8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7024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270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2394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Extraction Engine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4348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rhetorical moves per section, grounded in the CARS model.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248656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486400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486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34009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Retrieval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65099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real, matching example excerpts for any section type.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160020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4F8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1837944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18379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169164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Mode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200253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and guidelines before a user starts writing.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2816352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3054096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55080" y="30540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29077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Mode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321868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feedback on a user's own draft.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403250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4F8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427024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55080" y="4270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7132320" y="412394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History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4348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and revisit past templates and critiques anytime.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5248656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5486400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55080" y="5486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7132320" y="534009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Reliable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132320" y="565099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with graceful handling of errors and edge cases.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— FYP Proposal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234086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70432" y="22311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 (CS/AI), 100–150 top-cited papers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962656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0432" y="2852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mode: templates + guidelines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58444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0432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mode: feedback on user drafts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206240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0432" y="4096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and saved history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82803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70432" y="47183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Deployed, publicly accessible web app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544982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70432" y="53400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testing with 10–15 users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160020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19672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19672" y="2340864"/>
            <a:ext cx="146304" cy="146304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21424" y="22311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academic disciplines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19672" y="2962656"/>
            <a:ext cx="146304" cy="146304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21424" y="2852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conversational tutoring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19672" y="3584448"/>
            <a:ext cx="146304" cy="146304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21424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Custom-trained ML models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19672" y="4206240"/>
            <a:ext cx="146304" cy="146304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21424" y="4096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Formal, statistically-powered study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19672" y="4828032"/>
            <a:ext cx="146304" cy="146304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21424" y="47183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19672" y="5449824"/>
            <a:ext cx="146304" cy="146304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21424" y="53400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Journal-specific formatting variants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— FYP Proposal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(RAG Pipeline)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7614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015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Top-cited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CS/AI papers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23160" y="3337560"/>
            <a:ext cx="384048" cy="0"/>
          </a:xfrm>
          <a:prstGeom prst="line">
            <a:avLst/>
          </a:prstGeom>
          <a:noFill/>
          <a:ln w="22225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07208" y="2651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98648" y="27614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GROBID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34015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Section-labelled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81728" y="3337560"/>
            <a:ext cx="384048" cy="0"/>
          </a:xfrm>
          <a:prstGeom prst="line">
            <a:avLst/>
          </a:prstGeom>
          <a:noFill/>
          <a:ln w="22225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65776" y="2651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57216" y="27614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157216" y="34015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CARS-model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rhetorical moves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40296" y="3337560"/>
            <a:ext cx="384048" cy="0"/>
          </a:xfrm>
          <a:prstGeom prst="line">
            <a:avLst/>
          </a:prstGeom>
          <a:noFill/>
          <a:ln w="22225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24344" y="2651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15784" y="27614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415784" y="34015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98864" y="3337560"/>
            <a:ext cx="384048" cy="0"/>
          </a:xfrm>
          <a:prstGeom prst="line">
            <a:avLst/>
          </a:prstGeom>
          <a:noFill/>
          <a:ln w="22225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82912" y="2651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3FA7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74352" y="27614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/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 Engine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674352" y="34015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LLM-grounded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mechanism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006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suggestion the system makes is backed by a retrieved, real excerpt from a verified high-impact paper — not an LLM's untethered notion of “good writing.” This is the core technical differentiator versus plain LLM chat tools.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269480" y="4480560"/>
            <a:ext cx="4343400" cy="1600200"/>
          </a:xfrm>
          <a:prstGeom prst="roundRect">
            <a:avLst>
              <a:gd name="adj" fmla="val 6857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5438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THEORY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49560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Swales' CARS Model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52852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Research Space — the genre-analysis framework used to define expected rhetorical moves per section.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— FYP Proposal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/icon_fast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199156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992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64992" y="16916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93592" y="1920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x/icon_sup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915" y="199156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Auth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29992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81344" y="16916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9944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/icon_chro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267" y="199156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9944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409944" y="29992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97696" y="16916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26296" y="1920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pptx/icon_embedd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7619" y="199156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26296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9226296" y="29992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8862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pptx/icon_grob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" y="4186123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77240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193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GROBID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364992" y="38862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593592" y="4114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/home/claude/pptx/icon_ll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4915" y="4186123"/>
            <a:ext cx="405994" cy="40599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93592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3593592" y="5193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GPT-4 API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181344" y="38862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409944" y="4114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/home/claude/pptx/icon_nextj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1267" y="4186123"/>
            <a:ext cx="405994" cy="40599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09944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6409944" y="5193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(React)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8997696" y="38862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226296" y="4114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1" name="Image 7" descr="/home/claude/pptx/icon_verce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7619" y="4186123"/>
            <a:ext cx="405994" cy="40599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226296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50" dirty="0"/>
          </a:p>
        </p:txBody>
      </p:sp>
      <p:sp>
        <p:nvSpPr>
          <p:cNvPr id="43" name="Text 33"/>
          <p:cNvSpPr txBox="1"/>
          <p:nvPr/>
        </p:nvSpPr>
        <p:spPr>
          <a:xfrm>
            <a:off x="9226296" y="5193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Railway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— FYP Proposal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&amp; Timeline (20 Weeks)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34440" y="1755648"/>
            <a:ext cx="0" cy="4114800"/>
          </a:xfrm>
          <a:prstGeom prst="line">
            <a:avLst/>
          </a:prstGeom>
          <a:noFill/>
          <a:ln w="25400">
            <a:solidFill>
              <a:srgbClr val="D6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157276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3272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554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collection &amp; GROBID parsing 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33272" y="202996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33272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011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0116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library (LLM few-shot labelling)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33272" y="248716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33272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2468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2468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retrieval index (Chroma)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33272" y="294436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33272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2926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6–8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29260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API: /generate and /critique endpoints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33272" y="340156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33272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3383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9–10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33832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&amp; history (Supabase Auth)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3272" y="385876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3272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783080" y="3840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11–14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063240" y="3840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build (Next.js)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33272" y="431596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33272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783080" y="4297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15–16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063240" y="42976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edge-case handling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33272" y="477316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33272" y="4773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783080" y="4754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17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063240" y="4754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(Vercel + Railway)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33272" y="5230368"/>
            <a:ext cx="402336" cy="402336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33272" y="5230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1783080" y="5212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18–20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063240" y="52120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testing, polish, report &amp; demo prep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— FYP Proposal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&amp; Success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243230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30428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deployed web application (public URL)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30098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17296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Well-documented GitHub source code repository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1696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04164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report: design, implementation, testing, limitations, future work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5422392" cy="4114800"/>
          </a:xfrm>
          <a:prstGeom prst="roundRect">
            <a:avLst>
              <a:gd name="adj" fmla="val 2667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2432304"/>
            <a:ext cx="128016" cy="128016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12280" y="230428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features work end-to-end, no crashes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3300984"/>
            <a:ext cx="128016" cy="128016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12280" y="317296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usable by anyone via a live link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4169664"/>
            <a:ext cx="128016" cy="128016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12280" y="404164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real testers give positive, actionable feedback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5038344"/>
            <a:ext cx="128016" cy="128016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12280" y="491032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clearly shows how the product differs from existing tools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— FYP Proposal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840480" cy="3840480"/>
          </a:xfrm>
          <a:prstGeom prst="ellipse">
            <a:avLst/>
          </a:prstGeom>
          <a:solidFill>
            <a:srgbClr val="3FA796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2011680" cy="0"/>
          </a:xfrm>
          <a:prstGeom prst="line">
            <a:avLst/>
          </a:prstGeom>
          <a:noFill/>
          <a:ln w="31750">
            <a:solidFill>
              <a:srgbClr val="3FA7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— A RAG-Powered Academic Writing Guide &amp; Critique Engine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2026-09-09T08:55:48Z</dcterms:created>
  <dcterms:modified xsi:type="dcterms:W3CDTF">2026-09-09T08:55:48Z</dcterms:modified>
</cp:coreProperties>
</file>